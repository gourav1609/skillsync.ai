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7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097280"/>
            <a:ext cx="9445752" cy="4663440"/>
          </a:xfrm>
          <a:prstGeom prst="roundRect">
            <a:avLst/>
          </a:prstGeom>
          <a:solidFill>
            <a:srgbClr val="080F20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1645920"/>
            <a:ext cx="853135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0FDFA"/>
                </a:solidFill>
                <a:latin typeface="Arial"/>
              </a:defRPr>
            </a:pPr>
            <a:r>
              <a:t>⚡ SkillSync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743200"/>
            <a:ext cx="85313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6B6D4"/>
                </a:solidFill>
                <a:latin typeface="Arial"/>
              </a:defRPr>
            </a:pPr>
            <a:r>
              <a:t>Adaptive AI-Powered Education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3474720"/>
            <a:ext cx="816559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  <a:latin typeface="Arial"/>
              </a:defRPr>
            </a:pPr>
            <a:r>
              <a:t>Learn what you need. Not what everyone else gets.</a:t>
            </a:r>
            <a:br/>
            <a:r>
              <a:t>A closed-loop adaptive learning engine that diagnoses conceptual gaps, generates targeted roadmaps, and tutors with real-time feedback.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7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SKILLSYNC AI • 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0FDFA"/>
                </a:solidFill>
                <a:latin typeface="Arial"/>
              </a:defRPr>
            </a:pPr>
            <a:r>
              <a:t>The Core Problem: One-Size-Fits-All Learning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20240"/>
            <a:ext cx="3291840" cy="3931920"/>
          </a:xfrm>
          <a:prstGeom prst="roundRect">
            <a:avLst/>
          </a:prstGeom>
          <a:solidFill>
            <a:srgbClr val="0B142A"/>
          </a:solidFill>
          <a:ln w="1905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94560"/>
            <a:ext cx="27432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6B6D4"/>
                </a:solidFill>
              </a:defRPr>
            </a:pPr>
            <a:r>
              <a:t>01</a:t>
            </a:r>
          </a:p>
          <a:p>
            <a:pPr>
              <a:spcBef>
                <a:spcPts val="1000"/>
              </a:spcBef>
              <a:defRPr sz="1800" b="1">
                <a:solidFill>
                  <a:srgbClr val="F0FDFA"/>
                </a:solidFill>
              </a:defRPr>
            </a:pPr>
            <a:r>
              <a:t>Static Curriculums</a:t>
            </a:r>
          </a:p>
          <a:p>
            <a:pPr>
              <a:spcBef>
                <a:spcPts val="1400"/>
              </a:spcBef>
              <a:defRPr sz="1300">
                <a:solidFill>
                  <a:srgbClr val="94A3B8"/>
                </a:solidFill>
              </a:defRPr>
            </a:pPr>
            <a:r>
              <a:t>Every student receives the exact same playlist or textbook chapter, regardless of prior knowledge or specific learning speed.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920240"/>
            <a:ext cx="3291840" cy="3931920"/>
          </a:xfrm>
          <a:prstGeom prst="roundRect">
            <a:avLst/>
          </a:prstGeom>
          <a:solidFill>
            <a:srgbClr val="0B142A"/>
          </a:solidFill>
          <a:ln w="1905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2194560"/>
            <a:ext cx="27432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6B6D4"/>
                </a:solidFill>
              </a:defRPr>
            </a:pPr>
            <a:r>
              <a:t>02</a:t>
            </a:r>
          </a:p>
          <a:p>
            <a:pPr>
              <a:spcBef>
                <a:spcPts val="1000"/>
              </a:spcBef>
              <a:defRPr sz="1800" b="1">
                <a:solidFill>
                  <a:srgbClr val="F0FDFA"/>
                </a:solidFill>
              </a:defRPr>
            </a:pPr>
            <a:r>
              <a:t>Hidden Conceptual Gaps</a:t>
            </a:r>
          </a:p>
          <a:p>
            <a:pPr>
              <a:spcBef>
                <a:spcPts val="1400"/>
              </a:spcBef>
              <a:defRPr sz="1300">
                <a:solidFill>
                  <a:srgbClr val="94A3B8"/>
                </a:solidFill>
              </a:defRPr>
            </a:pPr>
            <a:r>
              <a:t>Students often don't realize where they are weak until exam day, leading to compounding confusion in foundational topics.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1920240"/>
            <a:ext cx="3291840" cy="3931920"/>
          </a:xfrm>
          <a:prstGeom prst="roundRect">
            <a:avLst/>
          </a:prstGeom>
          <a:solidFill>
            <a:srgbClr val="0B142A"/>
          </a:solidFill>
          <a:ln w="1905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9" y="2194560"/>
            <a:ext cx="27432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6B6D4"/>
                </a:solidFill>
              </a:defRPr>
            </a:pPr>
            <a:r>
              <a:t>03</a:t>
            </a:r>
          </a:p>
          <a:p>
            <a:pPr>
              <a:spcBef>
                <a:spcPts val="1000"/>
              </a:spcBef>
              <a:defRPr sz="1800" b="1">
                <a:solidFill>
                  <a:srgbClr val="F0FDFA"/>
                </a:solidFill>
              </a:defRPr>
            </a:pPr>
            <a:r>
              <a:t>Passive &amp; Inefficient</a:t>
            </a:r>
          </a:p>
          <a:p>
            <a:pPr>
              <a:spcBef>
                <a:spcPts val="1400"/>
              </a:spcBef>
              <a:defRPr sz="1300">
                <a:solidFill>
                  <a:srgbClr val="94A3B8"/>
                </a:solidFill>
              </a:defRPr>
            </a:pPr>
            <a:r>
              <a:t>Rewatching full 60-minute video lectures to fix a single 2-minute misunderstanding leads to burnout and high dropouts.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7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SKILLSYNC AI • 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0FDFA"/>
                </a:solidFill>
                <a:latin typeface="Arial"/>
              </a:defRPr>
            </a:pPr>
            <a:r>
              <a:t>The Solution: Continuous 5-Step Adaptive Loop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11680"/>
            <a:ext cx="1965960" cy="3840480"/>
          </a:xfrm>
          <a:prstGeom prst="roundRect">
            <a:avLst/>
          </a:prstGeom>
          <a:solidFill>
            <a:srgbClr val="0B142A"/>
          </a:solidFill>
          <a:ln w="1905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94560"/>
            <a:ext cx="1600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6B6D4"/>
                </a:solidFill>
              </a:defRPr>
            </a:pPr>
            <a:r>
              <a:t>Step 1</a:t>
            </a:r>
          </a:p>
          <a:p>
            <a:pPr>
              <a:spcBef>
                <a:spcPts val="800"/>
              </a:spcBef>
              <a:defRPr sz="1500" b="1">
                <a:solidFill>
                  <a:srgbClr val="F0FDFA"/>
                </a:solidFill>
              </a:defRPr>
            </a:pPr>
            <a:r>
              <a:t>Diagnostic Assessment</a:t>
            </a:r>
          </a:p>
          <a:p>
            <a:pPr>
              <a:spcBef>
                <a:spcPts val="1200"/>
              </a:spcBef>
              <a:defRPr sz="1200">
                <a:solidFill>
                  <a:srgbClr val="94A3B8"/>
                </a:solidFill>
              </a:defRPr>
            </a:pPr>
            <a:r>
              <a:t>Targeted 10-minute quiz reveals exact baseline.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71800" y="2011680"/>
            <a:ext cx="1965960" cy="3840480"/>
          </a:xfrm>
          <a:prstGeom prst="roundRect">
            <a:avLst/>
          </a:prstGeom>
          <a:solidFill>
            <a:srgbClr val="0B142A"/>
          </a:solidFill>
          <a:ln w="1905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54680" y="2194560"/>
            <a:ext cx="1600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6B6D4"/>
                </a:solidFill>
              </a:defRPr>
            </a:pPr>
            <a:r>
              <a:t>Step 2</a:t>
            </a:r>
          </a:p>
          <a:p>
            <a:pPr>
              <a:spcBef>
                <a:spcPts val="800"/>
              </a:spcBef>
              <a:defRPr sz="1500" b="1">
                <a:solidFill>
                  <a:srgbClr val="F0FDFA"/>
                </a:solidFill>
              </a:defRPr>
            </a:pPr>
            <a:r>
              <a:t>AI Learning Profile</a:t>
            </a:r>
          </a:p>
          <a:p>
            <a:pPr>
              <a:spcBef>
                <a:spcPts val="1200"/>
              </a:spcBef>
              <a:defRPr sz="1200">
                <a:solidFill>
                  <a:srgbClr val="94A3B8"/>
                </a:solidFill>
              </a:defRPr>
            </a:pPr>
            <a:r>
              <a:t>Subtopic breakdown (Weak, Medium, Strong %) generated.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0" y="2011680"/>
            <a:ext cx="1965960" cy="3840480"/>
          </a:xfrm>
          <a:prstGeom prst="roundRect">
            <a:avLst/>
          </a:prstGeom>
          <a:solidFill>
            <a:srgbClr val="0B142A"/>
          </a:solidFill>
          <a:ln w="1905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0" y="2194560"/>
            <a:ext cx="1600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6B6D4"/>
                </a:solidFill>
              </a:defRPr>
            </a:pPr>
            <a:r>
              <a:t>Step 3</a:t>
            </a:r>
          </a:p>
          <a:p>
            <a:pPr>
              <a:spcBef>
                <a:spcPts val="800"/>
              </a:spcBef>
              <a:defRPr sz="1500" b="1">
                <a:solidFill>
                  <a:srgbClr val="F0FDFA"/>
                </a:solidFill>
              </a:defRPr>
            </a:pPr>
            <a:r>
              <a:t>Dynamic Study Plan</a:t>
            </a:r>
          </a:p>
          <a:p>
            <a:pPr>
              <a:spcBef>
                <a:spcPts val="1200"/>
              </a:spcBef>
              <a:defRPr sz="1200">
                <a:solidFill>
                  <a:srgbClr val="94A3B8"/>
                </a:solidFill>
              </a:defRPr>
            </a:pPr>
            <a:r>
              <a:t>Prioritizes high-leverage weak areas first.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9480" y="2011680"/>
            <a:ext cx="1965960" cy="3840480"/>
          </a:xfrm>
          <a:prstGeom prst="roundRect">
            <a:avLst/>
          </a:prstGeom>
          <a:solidFill>
            <a:srgbClr val="0B142A"/>
          </a:solidFill>
          <a:ln w="1905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52360" y="2194560"/>
            <a:ext cx="1600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6B6D4"/>
                </a:solidFill>
              </a:defRPr>
            </a:pPr>
            <a:r>
              <a:t>Step 4</a:t>
            </a:r>
          </a:p>
          <a:p>
            <a:pPr>
              <a:spcBef>
                <a:spcPts val="800"/>
              </a:spcBef>
              <a:defRPr sz="1500" b="1">
                <a:solidFill>
                  <a:srgbClr val="F0FDFA"/>
                </a:solidFill>
              </a:defRPr>
            </a:pPr>
            <a:r>
              <a:t>Context-Aware Tutor</a:t>
            </a:r>
          </a:p>
          <a:p>
            <a:pPr>
              <a:spcBef>
                <a:spcPts val="1200"/>
              </a:spcBef>
              <a:defRPr sz="1200">
                <a:solidFill>
                  <a:srgbClr val="94A3B8"/>
                </a:solidFill>
              </a:defRPr>
            </a:pPr>
            <a:r>
              <a:t>AI explains concepts with direct reference to past mistakes.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18320" y="2011680"/>
            <a:ext cx="1965960" cy="3840480"/>
          </a:xfrm>
          <a:prstGeom prst="roundRect">
            <a:avLst/>
          </a:prstGeom>
          <a:solidFill>
            <a:srgbClr val="0B142A"/>
          </a:solidFill>
          <a:ln w="1905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0" y="2194560"/>
            <a:ext cx="1600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6B6D4"/>
                </a:solidFill>
              </a:defRPr>
            </a:pPr>
            <a:r>
              <a:t>Step 5</a:t>
            </a:r>
          </a:p>
          <a:p>
            <a:pPr>
              <a:spcBef>
                <a:spcPts val="800"/>
              </a:spcBef>
              <a:defRPr sz="1500" b="1">
                <a:solidFill>
                  <a:srgbClr val="F0FDFA"/>
                </a:solidFill>
              </a:defRPr>
            </a:pPr>
            <a:r>
              <a:t>Real-Time Mastery Loop</a:t>
            </a:r>
          </a:p>
          <a:p>
            <a:pPr>
              <a:spcBef>
                <a:spcPts val="1200"/>
              </a:spcBef>
              <a:defRPr sz="1200">
                <a:solidFill>
                  <a:srgbClr val="94A3B8"/>
                </a:solidFill>
              </a:defRPr>
            </a:pPr>
            <a:r>
              <a:t>Scores recalculate instantly after practice sessions.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7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SKILLSYNC AI • 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0FDFA"/>
                </a:solidFill>
                <a:latin typeface="Arial"/>
              </a:defRPr>
            </a:pPr>
            <a:r>
              <a:t>Key Features &amp; Capabilities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20240"/>
            <a:ext cx="5120640" cy="1920240"/>
          </a:xfrm>
          <a:prstGeom prst="roundRect">
            <a:avLst/>
          </a:prstGeom>
          <a:solidFill>
            <a:srgbClr val="0B142A"/>
          </a:solidFill>
          <a:ln w="1905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48840"/>
            <a:ext cx="4572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0FDFA"/>
                </a:solidFill>
              </a:defRPr>
            </a:pPr>
            <a:r>
              <a:t>🎯 Real-Time Diagnostics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</a:defRPr>
            </a:pPr>
            <a:r>
              <a:t>Automated baseline calculation on core subjects (e.g. DBMS, Normalization, Transactions) with instant competency scores.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920240"/>
            <a:ext cx="5120640" cy="1920240"/>
          </a:xfrm>
          <a:prstGeom prst="roundRect">
            <a:avLst/>
          </a:prstGeom>
          <a:solidFill>
            <a:srgbClr val="0B142A"/>
          </a:solidFill>
          <a:ln w="1905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2148840"/>
            <a:ext cx="4572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0FDFA"/>
                </a:solidFill>
              </a:defRPr>
            </a:pPr>
            <a:r>
              <a:t>🧠 Context-Aware AI Tutor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</a:defRPr>
            </a:pPr>
            <a:r>
              <a:t>Tutor remembers recent diagnostic mistakes and tailors explanation analogies to the student's exact knowledge level.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114800"/>
            <a:ext cx="5120640" cy="1920240"/>
          </a:xfrm>
          <a:prstGeom prst="roundRect">
            <a:avLst/>
          </a:prstGeom>
          <a:solidFill>
            <a:srgbClr val="0B142A"/>
          </a:solidFill>
          <a:ln w="1905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4343400"/>
            <a:ext cx="4572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0FDFA"/>
                </a:solidFill>
              </a:defRPr>
            </a:pPr>
            <a:r>
              <a:t>📊 Dynamic Mastery Dashboard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</a:defRPr>
            </a:pPr>
            <a:r>
              <a:t>Visual progress breakdown with topic-by-topic status bars, study streaks, and high-priority action items.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114800"/>
            <a:ext cx="5120640" cy="1920240"/>
          </a:xfrm>
          <a:prstGeom prst="roundRect">
            <a:avLst/>
          </a:prstGeom>
          <a:solidFill>
            <a:srgbClr val="0B142A"/>
          </a:solidFill>
          <a:ln w="1905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4343400"/>
            <a:ext cx="4572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0FDFA"/>
                </a:solidFill>
              </a:defRPr>
            </a:pPr>
            <a:r>
              <a:t>⚡ 1-Click Instant Demo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</a:defRPr>
            </a:pPr>
            <a:r>
              <a:t>Built-in student simulation profile (Alex Rivera) allowing judges and testers to test the adaptive cycle immediately.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7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SKILLSYNC AI • 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0FDFA"/>
                </a:solidFill>
                <a:latin typeface="Arial"/>
              </a:defRPr>
            </a:pPr>
            <a:r>
              <a:t>Technology Stack &amp;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20240"/>
            <a:ext cx="2468880" cy="3931920"/>
          </a:xfrm>
          <a:prstGeom prst="roundRect">
            <a:avLst/>
          </a:prstGeom>
          <a:solidFill>
            <a:srgbClr val="0B142A"/>
          </a:solidFill>
          <a:ln w="1905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194560"/>
            <a:ext cx="20116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</a:defRPr>
            </a:pPr>
            <a:r>
              <a:t>Frontend &amp; UI</a:t>
            </a:r>
          </a:p>
          <a:p>
            <a:pPr>
              <a:spcBef>
                <a:spcPts val="1400"/>
              </a:spcBef>
              <a:defRPr sz="1300">
                <a:solidFill>
                  <a:srgbClr val="F0FDFA"/>
                </a:solidFill>
              </a:defRPr>
            </a:pPr>
            <a:r>
              <a:t>Next.js 16 (App Router + Turbopack)</a:t>
            </a:r>
            <a:br/>
            <a:r>
              <a:t>React 19 &amp; TypeScript</a:t>
            </a:r>
            <a:br/>
            <a:r>
              <a:t>Tailwind CSS v4 Modern Glassmorphism</a:t>
            </a:r>
            <a:br/>
            <a:r>
              <a:t>Lucide Icons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920240"/>
            <a:ext cx="2468880" cy="3931920"/>
          </a:xfrm>
          <a:prstGeom prst="roundRect">
            <a:avLst/>
          </a:prstGeom>
          <a:solidFill>
            <a:srgbClr val="0B142A"/>
          </a:solidFill>
          <a:ln w="1905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03320" y="2194560"/>
            <a:ext cx="20116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</a:defRPr>
            </a:pPr>
            <a:r>
              <a:t>3D Graphics &amp; Visuals</a:t>
            </a:r>
          </a:p>
          <a:p>
            <a:pPr>
              <a:spcBef>
                <a:spcPts val="1400"/>
              </a:spcBef>
              <a:defRPr sz="1300">
                <a:solidFill>
                  <a:srgbClr val="F0FDFA"/>
                </a:solidFill>
              </a:defRPr>
            </a:pPr>
            <a:r>
              <a:t>Three.js 3D Physics &amp; Crystalline Universe</a:t>
            </a:r>
            <a:br/>
            <a:r>
              <a:t>Real-time Mouse Cursor Parallax &amp; Lighting</a:t>
            </a:r>
            <a:br/>
            <a:r>
              <a:t>Additive Blending Sparkle Particles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920240"/>
            <a:ext cx="2468880" cy="3931920"/>
          </a:xfrm>
          <a:prstGeom prst="roundRect">
            <a:avLst/>
          </a:prstGeom>
          <a:solidFill>
            <a:srgbClr val="0B142A"/>
          </a:solidFill>
          <a:ln w="1905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2194560"/>
            <a:ext cx="20116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</a:defRPr>
            </a:pPr>
            <a:r>
              <a:t>Backend &amp; Auth</a:t>
            </a:r>
          </a:p>
          <a:p>
            <a:pPr>
              <a:spcBef>
                <a:spcPts val="1400"/>
              </a:spcBef>
              <a:defRPr sz="1300">
                <a:solidFill>
                  <a:srgbClr val="F0FDFA"/>
                </a:solidFill>
              </a:defRPr>
            </a:pPr>
            <a:r>
              <a:t>Next.js Server Actions &amp; API Routes</a:t>
            </a:r>
            <a:br/>
            <a:r>
              <a:t>NextAuth.js Session &amp; Security</a:t>
            </a:r>
            <a:br/>
            <a:r>
              <a:t>Bcryptjs Password Encryption</a:t>
            </a:r>
            <a:br/>
            <a:r>
              <a:t>Zod Schema Validation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78240" y="1920240"/>
            <a:ext cx="2468880" cy="3931920"/>
          </a:xfrm>
          <a:prstGeom prst="roundRect">
            <a:avLst/>
          </a:prstGeom>
          <a:solidFill>
            <a:srgbClr val="0B142A"/>
          </a:solidFill>
          <a:ln w="1905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6840" y="2194560"/>
            <a:ext cx="20116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</a:defRPr>
            </a:pPr>
            <a:r>
              <a:t>Data &amp; Intelligence</a:t>
            </a:r>
          </a:p>
          <a:p>
            <a:pPr>
              <a:spcBef>
                <a:spcPts val="1400"/>
              </a:spcBef>
              <a:defRPr sz="1300">
                <a:solidFill>
                  <a:srgbClr val="F0FDFA"/>
                </a:solidFill>
              </a:defRPr>
            </a:pPr>
            <a:r>
              <a:t>Prisma ORM with SQLite (dev.db)</a:t>
            </a:r>
            <a:br/>
            <a:r>
              <a:t>Google Gemini Generative AI</a:t>
            </a:r>
            <a:br/>
            <a:r>
              <a:t>Adaptive Scoring Algorithms</a:t>
            </a:r>
            <a:br/>
            <a:r>
              <a:t>Instant Seeding Pipeline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7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SKILLSYNC AI • 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0FDFA"/>
                </a:solidFill>
                <a:latin typeface="Arial"/>
              </a:defRPr>
            </a:pPr>
            <a:r>
              <a:t>UI/UX Design: Midnight Cyan Aesthetic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20240"/>
            <a:ext cx="10515600" cy="1143000"/>
          </a:xfrm>
          <a:prstGeom prst="roundRect">
            <a:avLst/>
          </a:prstGeom>
          <a:solidFill>
            <a:srgbClr val="0B142A"/>
          </a:solidFill>
          <a:ln w="1905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03120"/>
            <a:ext cx="9966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</a:defRPr>
            </a:pPr>
            <a:r>
              <a:t>🌌 Midnight Space Canvas</a:t>
            </a:r>
          </a:p>
          <a:p>
            <a:pPr>
              <a:spcBef>
                <a:spcPts val="400"/>
              </a:spcBef>
              <a:defRPr sz="1300">
                <a:solidFill>
                  <a:srgbClr val="F0FDFA"/>
                </a:solidFill>
              </a:defRPr>
            </a:pPr>
            <a:r>
              <a:t>Deep pitch black background (#040711) with neon cyan highlights that minimize eye fatigue during late-night study sessions.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291840"/>
            <a:ext cx="10515600" cy="1143000"/>
          </a:xfrm>
          <a:prstGeom prst="roundRect">
            <a:avLst/>
          </a:prstGeom>
          <a:solidFill>
            <a:srgbClr val="0B142A"/>
          </a:solidFill>
          <a:ln w="1905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474720"/>
            <a:ext cx="9966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</a:defRPr>
            </a:pPr>
            <a:r>
              <a:t>💎 3D Three.js Crystal Background</a:t>
            </a:r>
          </a:p>
          <a:p>
            <a:pPr>
              <a:spcBef>
                <a:spcPts val="400"/>
              </a:spcBef>
              <a:defRPr sz="1300">
                <a:solidFill>
                  <a:srgbClr val="F0FDFA"/>
                </a:solidFill>
              </a:defRPr>
            </a:pPr>
            <a:r>
              <a:t>Interactive geometric crystals float, refract light, and react dynamically to mouse gestures, giving a premium tactile feel.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663440"/>
            <a:ext cx="10515600" cy="1143000"/>
          </a:xfrm>
          <a:prstGeom prst="roundRect">
            <a:avLst/>
          </a:prstGeom>
          <a:solidFill>
            <a:srgbClr val="0B142A"/>
          </a:solidFill>
          <a:ln w="1905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4846320"/>
            <a:ext cx="9966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</a:defRPr>
            </a:pPr>
            <a:r>
              <a:t>🛡️ Glassmorphism &amp; Micro-Interactions</a:t>
            </a:r>
          </a:p>
          <a:p>
            <a:pPr>
              <a:spcBef>
                <a:spcPts val="400"/>
              </a:spcBef>
              <a:defRPr sz="1300">
                <a:solidFill>
                  <a:srgbClr val="F0FDFA"/>
                </a:solidFill>
              </a:defRPr>
            </a:pPr>
            <a:r>
              <a:t>Subtle glowing borders, translucent cards, and animated badges create high visual hierarchy and engagement.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7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SKILLSYNC AI • 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0FDFA"/>
                </a:solidFill>
                <a:latin typeface="Arial"/>
              </a:defRPr>
            </a:pPr>
            <a:r>
              <a:t>Future Roadmap &amp; Expansion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20240"/>
            <a:ext cx="3291840" cy="3931920"/>
          </a:xfrm>
          <a:prstGeom prst="roundRect">
            <a:avLst/>
          </a:prstGeom>
          <a:solidFill>
            <a:srgbClr val="0B142A"/>
          </a:solidFill>
          <a:ln w="1905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94560"/>
            <a:ext cx="27432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6B6D4"/>
                </a:solidFill>
              </a:defRPr>
            </a:pPr>
            <a:r>
              <a:t>Phase 1: Multi-Subject</a:t>
            </a:r>
          </a:p>
          <a:p>
            <a:pPr>
              <a:spcBef>
                <a:spcPts val="1400"/>
              </a:spcBef>
              <a:defRPr sz="1300">
                <a:solidFill>
                  <a:srgbClr val="94A3B8"/>
                </a:solidFill>
              </a:defRPr>
            </a:pPr>
            <a:r>
              <a:t>Scale beyond DBMS to Operating Systems, Computer Networks, and Data Structures &amp; Algorithms.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920240"/>
            <a:ext cx="3291840" cy="3931920"/>
          </a:xfrm>
          <a:prstGeom prst="roundRect">
            <a:avLst/>
          </a:prstGeom>
          <a:solidFill>
            <a:srgbClr val="0B142A"/>
          </a:solidFill>
          <a:ln w="1905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2194560"/>
            <a:ext cx="27432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6B6D4"/>
                </a:solidFill>
              </a:defRPr>
            </a:pPr>
            <a:r>
              <a:t>Phase 2: Teacher Dashboard</a:t>
            </a:r>
          </a:p>
          <a:p>
            <a:pPr>
              <a:spcBef>
                <a:spcPts val="1400"/>
              </a:spcBef>
              <a:defRPr sz="1300">
                <a:solidFill>
                  <a:srgbClr val="94A3B8"/>
                </a:solidFill>
              </a:defRPr>
            </a:pPr>
            <a:r>
              <a:t>Analytics portal for educators to identify class-wide misconceptions and weak topic clusters.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1920240"/>
            <a:ext cx="3291840" cy="3931920"/>
          </a:xfrm>
          <a:prstGeom prst="roundRect">
            <a:avLst/>
          </a:prstGeom>
          <a:solidFill>
            <a:srgbClr val="0B142A"/>
          </a:solidFill>
          <a:ln w="1905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9" y="2194560"/>
            <a:ext cx="27432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6B6D4"/>
                </a:solidFill>
              </a:defRPr>
            </a:pPr>
            <a:r>
              <a:t>Phase 3: Peer Study Rooms</a:t>
            </a:r>
          </a:p>
          <a:p>
            <a:pPr>
              <a:spcBef>
                <a:spcPts val="1400"/>
              </a:spcBef>
              <a:defRPr sz="1300">
                <a:solidFill>
                  <a:srgbClr val="94A3B8"/>
                </a:solidFill>
              </a:defRPr>
            </a:pPr>
            <a:r>
              <a:t>Collaborative problem-solving with AI moderator facilitating group peer reviews.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7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097280"/>
            <a:ext cx="9445752" cy="4663440"/>
          </a:xfrm>
          <a:prstGeom prst="roundRect">
            <a:avLst/>
          </a:prstGeom>
          <a:solidFill>
            <a:srgbClr val="080F20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1828800"/>
            <a:ext cx="85313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0FDFA"/>
                </a:solidFill>
                <a:latin typeface="Arial"/>
              </a:defRPr>
            </a:pPr>
            <a:r>
              <a:t>Thank You!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926080"/>
            <a:ext cx="85313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6B6D4"/>
                </a:solidFill>
                <a:latin typeface="Arial"/>
              </a:defRPr>
            </a:pPr>
            <a:r>
              <a:t>SkillSync AI — Empowering Every Student with Adaptive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3840480"/>
            <a:ext cx="816559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0FDFA"/>
                </a:solidFill>
                <a:latin typeface="Arial"/>
              </a:defRPr>
            </a:pPr>
            <a:r>
              <a:t>🌐 Live Demo: http://localhost:3000</a:t>
            </a:r>
            <a:br/>
            <a:r>
              <a:t>💻 Tech: Next.js 16 • Three.js • Prisma • Gemini AI</a:t>
            </a:r>
            <a:br/>
            <a:r>
              <a:t>✨ Ready for Questions &amp; Interactive Walkthrough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